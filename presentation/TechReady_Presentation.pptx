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778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D6BE4">
              <a:alpha val="15000"/>
            </a:srgbClr>
          </a:solidFill>
          <a:ln w="12700">
            <a:solidFill>
              <a:srgbClr val="2D6BE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7C5CBF">
              <a:alpha val="20000"/>
            </a:srgbClr>
          </a:solidFill>
          <a:ln w="12700">
            <a:solidFill>
              <a:srgbClr val="7C5CB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Marocaine des Sciences d'Ingénieur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2D6BE4">
              <a:alpha val="30000"/>
            </a:srgbClr>
          </a:solidFill>
          <a:ln w="63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FF9"/>
                </a:solidFill>
              </a:rPr>
              <a:t>PFA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TechReady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Android de Préparation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Entretiens Techniques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743200" cy="27432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5B3"/>
                </a:solidFill>
              </a:rPr>
              <a:t>Réalisé par : </a:t>
            </a:r>
            <a:r>
              <a:rPr lang="en-US" sz="1200" b="1" dirty="0">
                <a:solidFill>
                  <a:srgbClr val="FFFFFF"/>
                </a:solidFill>
              </a:rPr>
              <a:t>Yasmine ADNAN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5B3"/>
                </a:solidFill>
              </a:rPr>
              <a:t>Encadrant : </a:t>
            </a:r>
            <a:r>
              <a:rPr lang="en-US" sz="1200" b="1" dirty="0">
                <a:solidFill>
                  <a:srgbClr val="FFFFFF"/>
                </a:solidFill>
              </a:rPr>
              <a:t>M. Bousmah Mohammed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5B3"/>
                </a:solidFill>
              </a:rPr>
              <a:t>Module : Développement Mobile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54864" cy="100584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4983480" y="1188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188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Stack Technique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233172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4846320" y="2331720"/>
            <a:ext cx="54864" cy="1005840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4983480" y="24231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2423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657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UML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356616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4" name="Shape 22"/>
          <p:cNvSpPr/>
          <p:nvPr/>
        </p:nvSpPr>
        <p:spPr>
          <a:xfrm>
            <a:off x="4846320" y="356616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4983480" y="36576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669280" y="3657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2194560"/>
            <a:ext cx="1371600" cy="36576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du travail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 par 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au Maroc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2286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Problèmes Identifiés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749040" y="868680"/>
            <a:ext cx="5120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" name="Shape 6"/>
          <p:cNvSpPr/>
          <p:nvPr/>
        </p:nvSpPr>
        <p:spPr>
          <a:xfrm>
            <a:off x="3749040" y="868680"/>
            <a:ext cx="45720" cy="86868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3886200" y="9235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préparation ciblée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2527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uniforme inadapté aux filières (cybersécurité, backend, mobile…)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874520"/>
            <a:ext cx="5120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45720" cy="86868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3886200" y="19293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feedback constructif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225856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explication des lacunes, pas de piste d'amélioration après un quiz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2880360"/>
            <a:ext cx="5120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3749040" y="2880360"/>
            <a:ext cx="45720" cy="86868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3886200" y="29352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simulation réaliste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32644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échouent par manque d'entraînement sous pression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3886200"/>
            <a:ext cx="5120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Shape 18"/>
          <p:cNvSpPr/>
          <p:nvPr/>
        </p:nvSpPr>
        <p:spPr>
          <a:xfrm>
            <a:off x="3749040" y="3886200"/>
            <a:ext cx="45720" cy="868680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3886200" y="3941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Démotivation en solo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0" y="427024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solitaire sans jalons de progression ni dimension communautaire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206240" cy="54864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640080" y="11247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Préparation Personnalisée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adapté à la filière, la spécialité et le niveau de chaque étudiant via un profilage adaptatif intelligent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54864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5029200" y="11247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Feedback par IA (Gemini)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819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réponses par l'API Gemini 1.5 Flash pour un retour constructif et personnalisé après chaque session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206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Simulation Réaliste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021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modes d'entraînement dont une simulation vocale pour reproduire les conditions réelles d'un entretien en entreprise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5029200" y="30449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Gamification &amp; Motivation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5021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XP, badges, leaderboard campus GPS et défis hebdomadaires pour maintenir l'engagement à long terme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Générale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822960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Android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 MVVM + Repository Pattern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377440" cy="9144"/>
          </a:xfrm>
          <a:prstGeom prst="rect">
            <a:avLst/>
          </a:prstGeom>
          <a:solidFill>
            <a:srgbClr val="E5EC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 Activity + NavHostFragment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2377440" cy="9144"/>
          </a:xfrm>
          <a:prstGeom prst="rect">
            <a:avLst/>
          </a:prstGeom>
          <a:solidFill>
            <a:srgbClr val="E5EC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Communication via Retrofit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2560320"/>
            <a:ext cx="164592" cy="27432"/>
          </a:xfrm>
          <a:prstGeom prst="rect">
            <a:avLst/>
          </a:prstGeom>
          <a:solidFill>
            <a:srgbClr val="8895B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297180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5B3"/>
                </a:solidFill>
              </a:rPr>
              <a:t>⟷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743200" cy="82296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333756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Spring Boot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920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REST stateless :8080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606040"/>
            <a:ext cx="2377440" cy="9144"/>
          </a:xfrm>
          <a:prstGeom prst="rect">
            <a:avLst/>
          </a:prstGeom>
          <a:solidFill>
            <a:srgbClr val="E5EC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3383280" y="27432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Controller → Service →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429000"/>
            <a:ext cx="2377440" cy="9144"/>
          </a:xfrm>
          <a:prstGeom prst="rect">
            <a:avLst/>
          </a:prstGeom>
          <a:solidFill>
            <a:srgbClr val="E5EC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Intégration Gemini 1.5 Flash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2560320"/>
            <a:ext cx="164592" cy="27432"/>
          </a:xfrm>
          <a:prstGeom prst="rect">
            <a:avLst/>
          </a:prstGeom>
          <a:solidFill>
            <a:srgbClr val="8895B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589788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5B3"/>
                </a:solidFill>
              </a:rPr>
              <a:t>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91440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74320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626364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12618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1920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Firebase Firestore (NoSQL cloud)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606040"/>
            <a:ext cx="2377440" cy="9144"/>
          </a:xfrm>
          <a:prstGeom prst="rect">
            <a:avLst/>
          </a:prstGeom>
          <a:solidFill>
            <a:srgbClr val="E5EC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Text 29"/>
          <p:cNvSpPr/>
          <p:nvPr/>
        </p:nvSpPr>
        <p:spPr>
          <a:xfrm>
            <a:off x="6309360" y="27432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Firebase Auth (Email/Password)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429000"/>
            <a:ext cx="2377440" cy="9144"/>
          </a:xfrm>
          <a:prstGeom prst="rect">
            <a:avLst/>
          </a:prstGeom>
          <a:solidFill>
            <a:srgbClr val="E5ECF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3" name="Text 31"/>
          <p:cNvSpPr/>
          <p:nvPr/>
        </p:nvSpPr>
        <p:spPr>
          <a:xfrm>
            <a:off x="6309360" y="35661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Room SQLite (flashcards offline)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374904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256032" cy="256032"/>
          </a:xfrm>
          <a:prstGeom prst="ellips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896112" y="1051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90472"/>
            <a:ext cx="2286000" cy="18288"/>
          </a:xfrm>
          <a:prstGeom prst="rect">
            <a:avLst/>
          </a:prstGeom>
          <a:solidFill>
            <a:srgbClr val="2D6BE4">
              <a:alpha val="5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Shape 5"/>
          <p:cNvSpPr/>
          <p:nvPr/>
        </p:nvSpPr>
        <p:spPr>
          <a:xfrm>
            <a:off x="566928" y="1682496"/>
            <a:ext cx="91440" cy="91440"/>
          </a:xfrm>
          <a:prstGeom prst="ellips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 •  MVVM + Repository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194560"/>
            <a:ext cx="91440" cy="91440"/>
          </a:xfrm>
          <a:prstGeom prst="ellips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749808" y="213969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2.11 + OkHttp 4.12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706624"/>
            <a:ext cx="91440" cy="91440"/>
          </a:xfrm>
          <a:prstGeom prst="ellips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749808" y="265176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SDK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91440" cy="91440"/>
          </a:xfrm>
          <a:prstGeom prst="ellips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749808" y="316382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2.6.1 (offline)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730752"/>
            <a:ext cx="91440" cy="91440"/>
          </a:xfrm>
          <a:prstGeom prst="ellipse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749808" y="367588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MPAndroidChart + Lottie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960120"/>
            <a:ext cx="2651760" cy="374904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Shape 16"/>
          <p:cNvSpPr/>
          <p:nvPr/>
        </p:nvSpPr>
        <p:spPr>
          <a:xfrm>
            <a:off x="3474720" y="1078992"/>
            <a:ext cx="256032" cy="256032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3822192" y="1051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4720" y="1490472"/>
            <a:ext cx="2286000" cy="18288"/>
          </a:xfrm>
          <a:prstGeom prst="rect">
            <a:avLst/>
          </a:prstGeom>
          <a:solidFill>
            <a:srgbClr val="7C5CBF">
              <a:alpha val="5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Shape 19"/>
          <p:cNvSpPr/>
          <p:nvPr/>
        </p:nvSpPr>
        <p:spPr>
          <a:xfrm>
            <a:off x="3493008" y="1682496"/>
            <a:ext cx="91440" cy="91440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3675888" y="162763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3.2.5  •  Java 21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93008" y="2194560"/>
            <a:ext cx="91440" cy="91440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3675888" y="213969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:8080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93008" y="2706624"/>
            <a:ext cx="91440" cy="91440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4"/>
          <p:cNvSpPr/>
          <p:nvPr/>
        </p:nvSpPr>
        <p:spPr>
          <a:xfrm>
            <a:off x="3675888" y="265176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Admin SDK 9.2.0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93008" y="3218688"/>
            <a:ext cx="91440" cy="91440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8" name="Text 26"/>
          <p:cNvSpPr/>
          <p:nvPr/>
        </p:nvSpPr>
        <p:spPr>
          <a:xfrm>
            <a:off x="3675888" y="316382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93008" y="3730752"/>
            <a:ext cx="91440" cy="91440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0" name="Text 28"/>
          <p:cNvSpPr/>
          <p:nvPr/>
        </p:nvSpPr>
        <p:spPr>
          <a:xfrm>
            <a:off x="3675888" y="367588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 •  REST stateless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960120"/>
            <a:ext cx="2651760" cy="374904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2" name="Shape 30"/>
          <p:cNvSpPr/>
          <p:nvPr/>
        </p:nvSpPr>
        <p:spPr>
          <a:xfrm>
            <a:off x="6400800" y="107899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3" name="Text 31"/>
          <p:cNvSpPr/>
          <p:nvPr/>
        </p:nvSpPr>
        <p:spPr>
          <a:xfrm>
            <a:off x="6748272" y="1051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1490472"/>
            <a:ext cx="228600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5" name="Shape 33"/>
          <p:cNvSpPr/>
          <p:nvPr/>
        </p:nvSpPr>
        <p:spPr>
          <a:xfrm>
            <a:off x="6419088" y="1682496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6" name="Text 34"/>
          <p:cNvSpPr/>
          <p:nvPr/>
        </p:nvSpPr>
        <p:spPr>
          <a:xfrm>
            <a:off x="6601968" y="1627632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(NoSQL)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19088" y="219456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8" name="Text 36"/>
          <p:cNvSpPr/>
          <p:nvPr/>
        </p:nvSpPr>
        <p:spPr>
          <a:xfrm>
            <a:off x="6601968" y="2139696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(Email/Pass)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19088" y="2706624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0" name="Text 38"/>
          <p:cNvSpPr/>
          <p:nvPr/>
        </p:nvSpPr>
        <p:spPr>
          <a:xfrm>
            <a:off x="6601968" y="265176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SQLite (local)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19088" y="321868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2" name="Text 40"/>
          <p:cNvSpPr/>
          <p:nvPr/>
        </p:nvSpPr>
        <p:spPr>
          <a:xfrm>
            <a:off x="6601968" y="3163824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(Google)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19088" y="3730752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4" name="Text 42"/>
          <p:cNvSpPr/>
          <p:nvPr/>
        </p:nvSpPr>
        <p:spPr>
          <a:xfrm>
            <a:off x="6601968" y="367588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Recognizer fr-FR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457200" y="1124712"/>
            <a:ext cx="420624" cy="420624"/>
          </a:xfrm>
          <a:prstGeom prst="ellipse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457200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Rapide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questions, timer 30s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immédiat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51760" cy="54864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Shape 9"/>
          <p:cNvSpPr/>
          <p:nvPr/>
        </p:nvSpPr>
        <p:spPr>
          <a:xfrm>
            <a:off x="3291840" y="1124712"/>
            <a:ext cx="420624" cy="420624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3291840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Blanc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9842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questions, 10 min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réelles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96012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5989320" y="960120"/>
            <a:ext cx="2651760" cy="54864"/>
          </a:xfrm>
          <a:prstGeom prst="rect">
            <a:avLst/>
          </a:prstGeom>
          <a:solidFill>
            <a:srgbClr val="E84855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Shape 15"/>
          <p:cNvSpPr/>
          <p:nvPr/>
        </p:nvSpPr>
        <p:spPr>
          <a:xfrm>
            <a:off x="6126480" y="1124712"/>
            <a:ext cx="420624" cy="420624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Text 16"/>
          <p:cNvSpPr/>
          <p:nvPr/>
        </p:nvSpPr>
        <p:spPr>
          <a:xfrm>
            <a:off x="6126480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Survie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9842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Infini, difficulté croissante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à la 1ère erreur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457200" y="30906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5844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Vocale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9502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orales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Gemini /10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29260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8" name="Shape 26"/>
          <p:cNvSpPr/>
          <p:nvPr/>
        </p:nvSpPr>
        <p:spPr>
          <a:xfrm>
            <a:off x="3154680" y="29260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9" name="Shape 27"/>
          <p:cNvSpPr/>
          <p:nvPr/>
        </p:nvSpPr>
        <p:spPr>
          <a:xfrm>
            <a:off x="3291840" y="30906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0" name="Text 28"/>
          <p:cNvSpPr/>
          <p:nvPr/>
        </p:nvSpPr>
        <p:spPr>
          <a:xfrm>
            <a:off x="3291840" y="30906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5844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Offline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9502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hors ligne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Room local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29260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4" name="Shape 32"/>
          <p:cNvSpPr/>
          <p:nvPr/>
        </p:nvSpPr>
        <p:spPr>
          <a:xfrm>
            <a:off x="5989320" y="2926080"/>
            <a:ext cx="2651760" cy="54864"/>
          </a:xfrm>
          <a:prstGeom prst="rect">
            <a:avLst/>
          </a:prstGeom>
          <a:solidFill>
            <a:srgbClr val="2D6BE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5" name="Shape 33"/>
          <p:cNvSpPr/>
          <p:nvPr/>
        </p:nvSpPr>
        <p:spPr>
          <a:xfrm>
            <a:off x="6126480" y="3090672"/>
            <a:ext cx="420624" cy="420624"/>
          </a:xfrm>
          <a:prstGeom prst="ellipse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6" name="Text 34"/>
          <p:cNvSpPr/>
          <p:nvPr/>
        </p:nvSpPr>
        <p:spPr>
          <a:xfrm>
            <a:off x="6126480" y="30906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26480" y="35844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Profilage Adaptatif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39502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personnalisé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84048"/>
          </a:xfrm>
          <a:prstGeom prst="rect">
            <a:avLst/>
          </a:prstGeom>
          <a:solidFill>
            <a:srgbClr val="2D6BE4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entity »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 : String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displayName : String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filiere : String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037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totalPoints : Long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badges : List&lt;String&gt;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51760" cy="384048"/>
          </a:xfrm>
          <a:prstGeom prst="rect">
            <a:avLst/>
          </a:prstGeom>
          <a:solidFill>
            <a:srgbClr val="7C5CBF"/>
          </a:solidFill>
          <a:ln w="1016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3291840" y="102412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entity »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11887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InterviewQuestion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389888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3383280" y="14356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: String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691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filiere : String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19476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question : String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2037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options : List&lt;String&gt;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correctIndex : int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651760" cy="384048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6217920" y="102412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entity 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0" y="11887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SessionResult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389888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6309360" y="143560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 : 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16916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 : String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19476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score : int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22037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totalQuestions : 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timestamp : long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2651760" cy="384048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1" name="Text 29"/>
          <p:cNvSpPr/>
          <p:nvPr/>
        </p:nvSpPr>
        <p:spPr>
          <a:xfrm>
            <a:off x="365760" y="358444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entity »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3749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950208"/>
            <a:ext cx="26517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4" name="Text 32"/>
          <p:cNvSpPr/>
          <p:nvPr/>
        </p:nvSpPr>
        <p:spPr>
          <a:xfrm>
            <a:off x="457200" y="39959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titre : String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51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description : String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5079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pointsRecompense : int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3566160"/>
            <a:ext cx="2651760" cy="384048"/>
          </a:xfrm>
          <a:prstGeom prst="rect">
            <a:avLst/>
          </a:prstGeom>
          <a:solidFill>
            <a:srgbClr val="E84855"/>
          </a:solidFill>
          <a:ln w="1016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8" name="Text 36"/>
          <p:cNvSpPr/>
          <p:nvPr/>
        </p:nvSpPr>
        <p:spPr>
          <a:xfrm>
            <a:off x="3291840" y="358444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entity »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91840" y="3749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ProfilingQuestion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3950208"/>
            <a:ext cx="26517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1" name="Text 39"/>
          <p:cNvSpPr/>
          <p:nvPr/>
        </p:nvSpPr>
        <p:spPr>
          <a:xfrm>
            <a:off x="3383280" y="39959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: String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42519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parentId : String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0" y="450799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question : String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83280" y="47640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fieldKey : String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017520" y="1508760"/>
            <a:ext cx="274320" cy="18288"/>
          </a:xfrm>
          <a:prstGeom prst="rect">
            <a:avLst/>
          </a:prstGeom>
          <a:solidFill>
            <a:srgbClr val="8895B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Text 44"/>
          <p:cNvSpPr/>
          <p:nvPr/>
        </p:nvSpPr>
        <p:spPr>
          <a:xfrm>
            <a:off x="283464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5B3"/>
                </a:solidFill>
              </a:rPr>
              <a:t>génère  1→*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97280" y="2286000"/>
            <a:ext cx="18288" cy="1280160"/>
          </a:xfrm>
          <a:prstGeom prst="rect">
            <a:avLst/>
          </a:prstGeom>
          <a:solidFill>
            <a:srgbClr val="8895B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8" name="Text 46"/>
          <p:cNvSpPr/>
          <p:nvPr/>
        </p:nvSpPr>
        <p:spPr>
          <a:xfrm>
            <a:off x="50292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5B3"/>
                </a:solidFill>
              </a:rPr>
              <a:t>récompense ↓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0" y="2286000"/>
            <a:ext cx="18288" cy="1280160"/>
          </a:xfrm>
          <a:prstGeom prst="rect">
            <a:avLst/>
          </a:prstGeom>
          <a:solidFill>
            <a:srgbClr val="8895B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0" name="Text 48"/>
          <p:cNvSpPr/>
          <p:nvPr/>
        </p:nvSpPr>
        <p:spPr>
          <a:xfrm>
            <a:off x="420624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5B3"/>
                </a:solidFill>
              </a:rPr>
              <a:t>configure ↓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011680" y="868680"/>
            <a:ext cx="6858000" cy="4069080"/>
          </a:xfrm>
          <a:prstGeom prst="rect">
            <a:avLst/>
          </a:prstGeom>
          <a:solidFill>
            <a:srgbClr val="EEF3FF">
              <a:alpha val="60000"/>
            </a:srgbClr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288036" y="1906172"/>
            <a:ext cx="411480" cy="4114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475488" y="2331720"/>
            <a:ext cx="18288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Shape 5"/>
          <p:cNvSpPr/>
          <p:nvPr/>
        </p:nvSpPr>
        <p:spPr>
          <a:xfrm>
            <a:off x="274320" y="2468880"/>
            <a:ext cx="411480" cy="1828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Shape 6"/>
          <p:cNvSpPr/>
          <p:nvPr/>
        </p:nvSpPr>
        <p:spPr>
          <a:xfrm>
            <a:off x="475488" y="2788920"/>
            <a:ext cx="182880" cy="274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9" name="Shape 7"/>
          <p:cNvSpPr/>
          <p:nvPr/>
        </p:nvSpPr>
        <p:spPr>
          <a:xfrm flipV="1">
            <a:off x="304038" y="2798064"/>
            <a:ext cx="169164" cy="274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91440" y="31272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1B2A4A"/>
                </a:solidFill>
              </a:rPr>
              <a:t>Utilisateur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042416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2286000" y="1005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Rapide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331720"/>
            <a:ext cx="1600200" cy="0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4" name="Shape 12"/>
          <p:cNvSpPr/>
          <p:nvPr/>
        </p:nvSpPr>
        <p:spPr>
          <a:xfrm>
            <a:off x="2286000" y="160020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2286000" y="1600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Blanc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2331720"/>
            <a:ext cx="1600200" cy="0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Shape 15"/>
          <p:cNvSpPr/>
          <p:nvPr/>
        </p:nvSpPr>
        <p:spPr>
          <a:xfrm>
            <a:off x="2286000" y="219456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Text 16"/>
          <p:cNvSpPr/>
          <p:nvPr/>
        </p:nvSpPr>
        <p:spPr>
          <a:xfrm>
            <a:off x="2286000" y="2194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Survie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flipV="1">
            <a:off x="699516" y="1301261"/>
            <a:ext cx="1499616" cy="1031155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0" name="Shape 18"/>
          <p:cNvSpPr/>
          <p:nvPr/>
        </p:nvSpPr>
        <p:spPr>
          <a:xfrm>
            <a:off x="2286000" y="278892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2286000" y="2788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Vocale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2331720"/>
            <a:ext cx="1600200" cy="649224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Shape 21"/>
          <p:cNvSpPr/>
          <p:nvPr/>
        </p:nvSpPr>
        <p:spPr>
          <a:xfrm>
            <a:off x="2286000" y="338328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2286000" y="33832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" y="2331720"/>
            <a:ext cx="1600200" cy="1243584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6" name="Shape 24"/>
          <p:cNvSpPr/>
          <p:nvPr/>
        </p:nvSpPr>
        <p:spPr>
          <a:xfrm>
            <a:off x="4846320" y="109728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4846320" y="10972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182880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Text 27"/>
          <p:cNvSpPr/>
          <p:nvPr/>
        </p:nvSpPr>
        <p:spPr>
          <a:xfrm>
            <a:off x="4846320" y="1828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56032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1" name="Text 29"/>
          <p:cNvSpPr/>
          <p:nvPr/>
        </p:nvSpPr>
        <p:spPr>
          <a:xfrm>
            <a:off x="4846320" y="2560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sa progression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29184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3" name="Text 31"/>
          <p:cNvSpPr/>
          <p:nvPr/>
        </p:nvSpPr>
        <p:spPr>
          <a:xfrm>
            <a:off x="4846320" y="3291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Campus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155448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Text 33"/>
          <p:cNvSpPr/>
          <p:nvPr/>
        </p:nvSpPr>
        <p:spPr>
          <a:xfrm>
            <a:off x="6858000" y="1554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hebdomadaire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237744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7" name="Text 35"/>
          <p:cNvSpPr/>
          <p:nvPr/>
        </p:nvSpPr>
        <p:spPr>
          <a:xfrm>
            <a:off x="6858000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XP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3200400"/>
            <a:ext cx="1737360" cy="384048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9" name="Text 37"/>
          <p:cNvSpPr/>
          <p:nvPr/>
        </p:nvSpPr>
        <p:spPr>
          <a:xfrm>
            <a:off x="6858000" y="3200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Profilage adaptatif</a:t>
            </a:r>
            <a:endParaRPr lang="en-US" sz="9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FA2E1522-8121-6C7F-8D37-3DC1578F12AC}"/>
              </a:ext>
            </a:extLst>
          </p:cNvPr>
          <p:cNvSpPr/>
          <p:nvPr/>
        </p:nvSpPr>
        <p:spPr>
          <a:xfrm flipV="1">
            <a:off x="687324" y="1837942"/>
            <a:ext cx="1511808" cy="493777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D42BE4C4-AE0B-FADC-A95A-A9770EB214C6}"/>
              </a:ext>
            </a:extLst>
          </p:cNvPr>
          <p:cNvSpPr/>
          <p:nvPr/>
        </p:nvSpPr>
        <p:spPr>
          <a:xfrm>
            <a:off x="768096" y="2345787"/>
            <a:ext cx="4078224" cy="465296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7656DF51-1AB7-2F47-4C14-DB283F23146E}"/>
              </a:ext>
            </a:extLst>
          </p:cNvPr>
          <p:cNvSpPr/>
          <p:nvPr/>
        </p:nvSpPr>
        <p:spPr>
          <a:xfrm>
            <a:off x="740664" y="2355229"/>
            <a:ext cx="4105656" cy="1101200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B635243F-A0FC-581D-536A-FB590B058795}"/>
              </a:ext>
            </a:extLst>
          </p:cNvPr>
          <p:cNvSpPr/>
          <p:nvPr/>
        </p:nvSpPr>
        <p:spPr>
          <a:xfrm flipV="1">
            <a:off x="768096" y="2014493"/>
            <a:ext cx="4078224" cy="316532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A62BDDCB-5772-A214-B2E3-2F36867B9D4E}"/>
              </a:ext>
            </a:extLst>
          </p:cNvPr>
          <p:cNvSpPr/>
          <p:nvPr/>
        </p:nvSpPr>
        <p:spPr>
          <a:xfrm flipV="1">
            <a:off x="816864" y="1301261"/>
            <a:ext cx="4029456" cy="1014870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0083CB95-EDF8-9648-9A27-496DFFE619F3}"/>
              </a:ext>
            </a:extLst>
          </p:cNvPr>
          <p:cNvSpPr/>
          <p:nvPr/>
        </p:nvSpPr>
        <p:spPr>
          <a:xfrm>
            <a:off x="816864" y="2349773"/>
            <a:ext cx="6041136" cy="978643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4F2080E0-32AD-685D-21CA-BCB0A9B353FB}"/>
              </a:ext>
            </a:extLst>
          </p:cNvPr>
          <p:cNvSpPr/>
          <p:nvPr/>
        </p:nvSpPr>
        <p:spPr>
          <a:xfrm>
            <a:off x="740664" y="2342973"/>
            <a:ext cx="6391656" cy="89334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782D8697-F7AB-8A56-2C33-DC233C938653}"/>
              </a:ext>
            </a:extLst>
          </p:cNvPr>
          <p:cNvSpPr/>
          <p:nvPr/>
        </p:nvSpPr>
        <p:spPr>
          <a:xfrm flipV="1">
            <a:off x="920496" y="1637007"/>
            <a:ext cx="6064112" cy="614526"/>
          </a:xfrm>
          <a:prstGeom prst="line">
            <a:avLst/>
          </a:prstGeom>
          <a:noFill/>
          <a:ln w="6350">
            <a:solidFill>
              <a:srgbClr val="8895B3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Séquence — Entretien Rapide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-45720" y="777240"/>
            <a:ext cx="10972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-45720" y="777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48056" y="1124712"/>
            <a:ext cx="18288" cy="3703320"/>
          </a:xfrm>
          <a:prstGeom prst="rect">
            <a:avLst/>
          </a:prstGeom>
          <a:solidFill>
            <a:srgbClr val="AABBCC">
              <a:alpha val="7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1600200" y="777240"/>
            <a:ext cx="1097280" cy="347472"/>
          </a:xfrm>
          <a:prstGeom prst="rect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1600200" y="777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93976" y="1124712"/>
            <a:ext cx="18288" cy="3703320"/>
          </a:xfrm>
          <a:prstGeom prst="rect">
            <a:avLst/>
          </a:prstGeom>
          <a:solidFill>
            <a:srgbClr val="AABBCC">
              <a:alpha val="7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1097280" cy="34747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3246120" y="777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39896" y="1124712"/>
            <a:ext cx="18288" cy="3703320"/>
          </a:xfrm>
          <a:prstGeom prst="rect">
            <a:avLst/>
          </a:prstGeom>
          <a:solidFill>
            <a:srgbClr val="AABBCC">
              <a:alpha val="7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Shape 10"/>
          <p:cNvSpPr/>
          <p:nvPr/>
        </p:nvSpPr>
        <p:spPr>
          <a:xfrm>
            <a:off x="4892040" y="777240"/>
            <a:ext cx="109728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4892040" y="777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85816" y="1124712"/>
            <a:ext cx="18288" cy="3703320"/>
          </a:xfrm>
          <a:prstGeom prst="rect">
            <a:avLst/>
          </a:prstGeom>
          <a:solidFill>
            <a:srgbClr val="AABBCC">
              <a:alpha val="7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6537960" y="777240"/>
            <a:ext cx="10972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6537960" y="7772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31736" y="1124712"/>
            <a:ext cx="18288" cy="3703320"/>
          </a:xfrm>
          <a:prstGeom prst="rect">
            <a:avLst/>
          </a:prstGeom>
          <a:solidFill>
            <a:srgbClr val="AABBCC">
              <a:alpha val="7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1645920" cy="0"/>
          </a:xfrm>
          <a:prstGeom prst="line">
            <a:avLst/>
          </a:prstGeom>
          <a:noFill/>
          <a:ln w="1524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731520" y="11064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Tap 'Lancer un entretien'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03120" y="1691640"/>
            <a:ext cx="1645920" cy="0"/>
          </a:xfrm>
          <a:prstGeom prst="line">
            <a:avLst/>
          </a:prstGeom>
          <a:noFill/>
          <a:ln w="1524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1" name="Text 19"/>
          <p:cNvSpPr/>
          <p:nvPr/>
        </p:nvSpPr>
        <p:spPr>
          <a:xfrm>
            <a:off x="2377440" y="147218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loadQuestions(filiere, specialite)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49040" y="2011680"/>
            <a:ext cx="1645920" cy="0"/>
          </a:xfrm>
          <a:prstGeom prst="line">
            <a:avLst/>
          </a:prstGeom>
          <a:noFill/>
          <a:ln w="1524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4023360" y="17922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GET /api/questions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94960" y="2331720"/>
            <a:ext cx="1645920" cy="0"/>
          </a:xfrm>
          <a:prstGeom prst="line">
            <a:avLst/>
          </a:prstGeom>
          <a:noFill/>
          <a:ln w="1524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5" name="Text 23"/>
          <p:cNvSpPr/>
          <p:nvPr/>
        </p:nvSpPr>
        <p:spPr>
          <a:xfrm>
            <a:off x="5669280" y="21122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Requête Firestore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94960" y="2651760"/>
            <a:ext cx="16459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5669280" y="24323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questions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749040" y="2971800"/>
            <a:ext cx="1645920" cy="0"/>
          </a:xfrm>
          <a:prstGeom prst="line">
            <a:avLst/>
          </a:prstGeom>
          <a:noFill/>
          <a:ln w="15240">
            <a:solidFill>
              <a:srgbClr val="E84855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29" name="Text 27"/>
          <p:cNvSpPr/>
          <p:nvPr/>
        </p:nvSpPr>
        <p:spPr>
          <a:xfrm>
            <a:off x="4023360" y="27523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List&lt;Question&gt;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103120" y="3291840"/>
            <a:ext cx="1645920" cy="0"/>
          </a:xfrm>
          <a:prstGeom prst="line">
            <a:avLst/>
          </a:prstGeom>
          <a:noFill/>
          <a:ln w="15240">
            <a:solidFill>
              <a:srgbClr val="7C5CBF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31" name="Text 29"/>
          <p:cNvSpPr/>
          <p:nvPr/>
        </p:nvSpPr>
        <p:spPr>
          <a:xfrm>
            <a:off x="2377440" y="307238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LiveData updated → Afficher question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1645920" cy="0"/>
          </a:xfrm>
          <a:prstGeom prst="line">
            <a:avLst/>
          </a:prstGeom>
          <a:noFill/>
          <a:ln w="1524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3" name="Text 31"/>
          <p:cNvSpPr/>
          <p:nvPr/>
        </p:nvSpPr>
        <p:spPr>
          <a:xfrm>
            <a:off x="731520" y="33924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Sélectionner une réponse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103120" y="3931920"/>
            <a:ext cx="1645920" cy="0"/>
          </a:xfrm>
          <a:prstGeom prst="line">
            <a:avLst/>
          </a:prstGeom>
          <a:noFill/>
          <a:ln w="1524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Text 33"/>
          <p:cNvSpPr/>
          <p:nvPr/>
        </p:nvSpPr>
        <p:spPr>
          <a:xfrm>
            <a:off x="2377440" y="37124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submitAnswer(index)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4251960"/>
            <a:ext cx="3291840" cy="0"/>
          </a:xfrm>
          <a:prstGeom prst="line">
            <a:avLst/>
          </a:prstGeom>
          <a:noFill/>
          <a:ln w="1524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7" name="Text 35"/>
          <p:cNvSpPr/>
          <p:nvPr/>
        </p:nvSpPr>
        <p:spPr>
          <a:xfrm>
            <a:off x="3200400" y="40325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POST /api/sessions (finishSession)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03120" y="4572000"/>
            <a:ext cx="3291840" cy="0"/>
          </a:xfrm>
          <a:prstGeom prst="line">
            <a:avLst/>
          </a:prstGeom>
          <a:noFill/>
          <a:ln w="15240">
            <a:solidFill>
              <a:srgbClr val="E84855"/>
            </a:solidFill>
            <a:prstDash val="dash"/>
          </a:ln>
        </p:spPr>
        <p:txBody>
          <a:bodyPr/>
          <a:lstStyle/>
          <a:p>
            <a:endParaRPr lang="fr-MA"/>
          </a:p>
        </p:txBody>
      </p:sp>
      <p:sp>
        <p:nvSpPr>
          <p:cNvPr id="39" name="Text 37"/>
          <p:cNvSpPr/>
          <p:nvPr/>
        </p:nvSpPr>
        <p:spPr>
          <a:xfrm>
            <a:off x="3200400" y="43525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Score + Feedback IA → ResultActivity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6BE4">
              <a:alpha val="12000"/>
            </a:srgbClr>
          </a:solidFill>
          <a:ln w="12700">
            <a:solidFill>
              <a:srgbClr val="2D6BE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C5CBF">
              <a:alpha val="15000"/>
            </a:srgbClr>
          </a:solidFill>
          <a:ln w="12700">
            <a:solidFill>
              <a:srgbClr val="7C5CB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8404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 MVVM complète et fonctionnelle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modes d'entraînement implémentés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9809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Intégration IA Gemini opérationnelle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Gamification (XP, badges, leaderboard GPS)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84048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176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Publication sur Google Play Store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 iOS (Flutter / Kotlin Multiplatform)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9809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Expansion des filières et questions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Simulation vidéo par IA (reconnaissance faciale)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297680"/>
            <a:ext cx="4572000" cy="594360"/>
          </a:xfrm>
          <a:prstGeom prst="rect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8" name="Text 16"/>
          <p:cNvSpPr/>
          <p:nvPr/>
        </p:nvSpPr>
        <p:spPr>
          <a:xfrm>
            <a:off x="2286000" y="4297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742</Words>
  <Application>Microsoft Office PowerPoint</Application>
  <PresentationFormat>Affichage à l'écran (16:9)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TechReady — Présentation PFA</dc:title>
  <dc:subject>PptxGenJS Presentation</dc:subject>
  <dc:creator>PptxGenJS</dc:creator>
  <cp:lastModifiedBy>Yasmin Ad</cp:lastModifiedBy>
  <cp:revision>2</cp:revision>
  <dcterms:created xsi:type="dcterms:W3CDTF">2026-05-19T09:43:49Z</dcterms:created>
  <dcterms:modified xsi:type="dcterms:W3CDTF">2026-05-31T22:31:16Z</dcterms:modified>
</cp:coreProperties>
</file>